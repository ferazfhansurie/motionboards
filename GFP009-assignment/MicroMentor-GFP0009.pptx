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-320040"/>
            <a:ext cx="5486400" cy="73426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548640"/>
            <a:ext cx="146304" cy="457200"/>
          </a:xfrm>
          <a:prstGeom prst="rect">
            <a:avLst/>
          </a:prstGeom>
          <a:solidFill>
            <a:srgbClr val="FF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6400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spc="240">
                <a:solidFill>
                  <a:srgbClr val="15182B"/>
                </a:solidFill>
                <a:latin typeface="Helvetica Neue"/>
              </a:rPr>
              <a:t>GFP 0009 · DIGITAL CREATIVITY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6949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7000" b="1">
                <a:solidFill>
                  <a:srgbClr val="15182B"/>
                </a:solidFill>
                <a:latin typeface="Helvetica Neue"/>
              </a:rPr>
              <a:t>Micro</a:t>
            </a:r>
            <a:r>
              <a:rPr sz="7000" b="1">
                <a:solidFill>
                  <a:srgbClr val="E8452F"/>
                </a:solidFill>
                <a:latin typeface="Helvetica Neue"/>
                <a:highlight>
                  <a:srgbClr val="FFD23F"/>
                </a:highlight>
              </a:rPr>
              <a:t>Mentor</a:t>
            </a:r>
            <a:r>
              <a:rPr sz="7000" b="1">
                <a:solidFill>
                  <a:srgbClr val="FF5A47"/>
                </a:solidFill>
                <a:latin typeface="Helvetica Neue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78892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spc="200">
                <a:solidFill>
                  <a:srgbClr val="4B4FA6"/>
                </a:solidFill>
                <a:latin typeface="Helvetica Neue"/>
              </a:rPr>
              <a:t>A LEARNING APP FOR STUDENTS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65836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2500" b="1" i="0">
                <a:solidFill>
                  <a:srgbClr val="15182B"/>
                </a:solidFill>
                <a:latin typeface="Helvetica Neue"/>
              </a:rPr>
              <a:t>Turn a whole lecture into 3 minute lessons you actually remember.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4A4F6B"/>
                </a:solidFill>
                <a:latin typeface="Helvetica Neue"/>
              </a:rPr>
              <a:t>A student micro-learning app that beats cramming and the forgetting curve. Built on the AMPLIFY model.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029200"/>
            <a:ext cx="6583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4B4FA6"/>
                </a:solidFill>
                <a:latin typeface="Helvetica Neue"/>
              </a:rPr>
              <a:t>PRESENTED BY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FF5A47"/>
                </a:solidFill>
                <a:latin typeface="Helvetica Neue"/>
              </a:rPr>
              <a:t>●  </a:t>
            </a:r>
            <a:r>
              <a:rPr sz="1500" b="1">
                <a:solidFill>
                  <a:srgbClr val="15182B"/>
                </a:solidFill>
                <a:latin typeface="Helvetica Neue"/>
              </a:rPr>
              <a:t>Aisyatun Nabiha binti Mohamed Husain  </a:t>
            </a:r>
            <a:r>
              <a:rPr sz="1200">
                <a:solidFill>
                  <a:srgbClr val="4A4F6B"/>
                </a:solidFill>
                <a:latin typeface="Helvetica Neue"/>
              </a:rPr>
              <a:t>25004128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C7CADD"/>
                </a:solidFill>
                <a:latin typeface="Helvetica Neue"/>
              </a:rPr>
              <a:t>●  </a:t>
            </a:r>
            <a:r>
              <a:rPr sz="1500" b="1">
                <a:solidFill>
                  <a:srgbClr val="C7CADD"/>
                </a:solidFill>
                <a:latin typeface="Helvetica Neue"/>
              </a:rPr>
              <a:t>[ Group member 2 ]  </a:t>
            </a:r>
            <a:r>
              <a:rPr sz="1200">
                <a:solidFill>
                  <a:srgbClr val="C7CADD"/>
                </a:solidFill>
                <a:latin typeface="Helvetica Neue"/>
              </a:rPr>
              <a:t>[ matric ]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C7CADD"/>
                </a:solidFill>
                <a:latin typeface="Helvetica Neue"/>
              </a:rPr>
              <a:t>●  </a:t>
            </a:r>
            <a:r>
              <a:rPr sz="1500" b="1">
                <a:solidFill>
                  <a:srgbClr val="C7CADD"/>
                </a:solidFill>
                <a:latin typeface="Helvetica Neue"/>
              </a:rPr>
              <a:t>[ Group member 3 ]  </a:t>
            </a:r>
            <a:r>
              <a:rPr sz="1200">
                <a:solidFill>
                  <a:srgbClr val="C7CADD"/>
                </a:solidFill>
                <a:latin typeface="Helvetica Neue"/>
              </a:rPr>
              <a:t>[ matric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>
                <a:solidFill>
                  <a:srgbClr val="4A4F6B"/>
                </a:solidFill>
                <a:latin typeface="Helvetica Neue"/>
              </a:rPr>
              <a:t>GFP 0009 Digital Creativity   |   Dr. Rafiza binti Abdul Razak   |   Universiti Malaya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28016" cy="384048"/>
          </a:xfrm>
          <a:prstGeom prst="rect">
            <a:avLst/>
          </a:prstGeom>
          <a:solidFill>
            <a:srgbClr val="FF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spc="220">
                <a:solidFill>
                  <a:srgbClr val="15182B"/>
                </a:solidFill>
                <a:latin typeface="Helvetica Neue"/>
              </a:rPr>
              <a:t>GFP 0009 · DIGITAL CREATIVITY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8229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spc="160">
                <a:solidFill>
                  <a:srgbClr val="4B4FA6"/>
                </a:solidFill>
                <a:latin typeface="Helvetica Neue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>
                <a:solidFill>
                  <a:srgbClr val="4A4F6B"/>
                </a:solidFill>
                <a:latin typeface="Helvetica Neue"/>
              </a:rPr>
              <a:t>MicroMentor  ·  Beat the forgetting curve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4B4FA6"/>
                </a:solidFill>
                <a:latin typeface="Helvetica Neue"/>
              </a:rPr>
              <a:t>02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200" b="1">
                <a:solidFill>
                  <a:srgbClr val="15182B"/>
                </a:solidFill>
                <a:latin typeface="Helvetica Neue"/>
              </a:rPr>
              <a:t>We cram. Then we forget.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585216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FF5A47"/>
                </a:solidFill>
                <a:latin typeface="Helvetica Neue"/>
              </a:rPr>
              <a:t>●  </a:t>
            </a:r>
            <a:r>
              <a:rPr sz="1600" b="0">
                <a:solidFill>
                  <a:srgbClr val="15182B"/>
                </a:solidFill>
                <a:latin typeface="Helvetica Neue"/>
              </a:rPr>
              <a:t>Lectures load everything at once, so our working memory overloads (Cognitive Load Theory, Sweller 1988).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FF5A47"/>
                </a:solidFill>
                <a:latin typeface="Helvetica Neue"/>
              </a:rPr>
              <a:t>●  </a:t>
            </a:r>
            <a:r>
              <a:rPr sz="1600" b="0">
                <a:solidFill>
                  <a:srgbClr val="15182B"/>
                </a:solidFill>
                <a:latin typeface="Helvetica Neue"/>
              </a:rPr>
              <a:t>Without spaced review, we forget 50 to 80 percent within days (Ebbinghaus, 1885).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FF5A47"/>
                </a:solidFill>
                <a:latin typeface="Helvetica Neue"/>
              </a:rPr>
              <a:t>●  </a:t>
            </a:r>
            <a:r>
              <a:rPr sz="1600" b="0">
                <a:solidFill>
                  <a:srgbClr val="15182B"/>
                </a:solidFill>
                <a:latin typeface="Helvetica Neue"/>
              </a:rPr>
              <a:t>So we cram before exams. High stress, shallow understanding, and fast forgetting after.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FF5A47"/>
                </a:solidFill>
                <a:latin typeface="Helvetica Neue"/>
              </a:rPr>
              <a:t>●  </a:t>
            </a:r>
            <a:r>
              <a:rPr sz="1600" b="0">
                <a:solidFill>
                  <a:srgbClr val="15182B"/>
                </a:solidFill>
                <a:latin typeface="Helvetica Neue"/>
              </a:rPr>
              <a:t>Notes are long and passive. Reading is not the same as remembering.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2377440"/>
            <a:ext cx="475488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95160" y="2377440"/>
            <a:ext cx="429768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3000" b="1">
                <a:solidFill>
                  <a:srgbClr val="E8452F"/>
                </a:solidFill>
                <a:latin typeface="Helvetica Neue"/>
              </a:rPr>
              <a:t>50-80%   </a:t>
            </a:r>
            <a:r>
              <a:rPr sz="1300">
                <a:solidFill>
                  <a:srgbClr val="4A4F6B"/>
                </a:solidFill>
                <a:latin typeface="Helvetica Neue"/>
              </a:rPr>
              <a:t>forgotten within days without review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3611880"/>
            <a:ext cx="475488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95160" y="3611880"/>
            <a:ext cx="429768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3000" b="1">
                <a:solidFill>
                  <a:srgbClr val="E8452F"/>
                </a:solidFill>
                <a:latin typeface="Helvetica Neue"/>
              </a:rPr>
              <a:t>3-5 min   </a:t>
            </a:r>
            <a:r>
              <a:rPr sz="1300">
                <a:solidFill>
                  <a:srgbClr val="4A4F6B"/>
                </a:solidFill>
                <a:latin typeface="Helvetica Neue"/>
              </a:rPr>
              <a:t>the lesson length memory prefers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20840" y="4846320"/>
            <a:ext cx="475488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95160" y="4846320"/>
            <a:ext cx="429768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3000" b="1">
                <a:solidFill>
                  <a:srgbClr val="E8452F"/>
                </a:solidFill>
                <a:latin typeface="Helvetica Neue"/>
              </a:rPr>
              <a:t>1 skill   </a:t>
            </a:r>
            <a:r>
              <a:rPr sz="1300">
                <a:solidFill>
                  <a:srgbClr val="4A4F6B"/>
                </a:solidFill>
                <a:latin typeface="Helvetica Neue"/>
              </a:rPr>
              <a:t>per lesson, not a whole chapter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28016" cy="384048"/>
          </a:xfrm>
          <a:prstGeom prst="rect">
            <a:avLst/>
          </a:prstGeom>
          <a:solidFill>
            <a:srgbClr val="FF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spc="220">
                <a:solidFill>
                  <a:srgbClr val="15182B"/>
                </a:solidFill>
                <a:latin typeface="Helvetica Neue"/>
              </a:rPr>
              <a:t>GFP 0009 · DIGITAL CREATIVITY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8229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spc="160">
                <a:solidFill>
                  <a:srgbClr val="4B4FA6"/>
                </a:solidFill>
                <a:latin typeface="Helvetica Neue"/>
              </a:rPr>
              <a:t>SIGNIFICANCE &amp; JUSTIFICATION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>
                <a:solidFill>
                  <a:srgbClr val="4A4F6B"/>
                </a:solidFill>
                <a:latin typeface="Helvetica Neue"/>
              </a:rPr>
              <a:t>MicroMentor  ·  Beat the forgetting curve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4B4FA6"/>
                </a:solidFill>
                <a:latin typeface="Helvetica Neue"/>
              </a:rPr>
              <a:t>03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200" b="1">
                <a:solidFill>
                  <a:srgbClr val="15182B"/>
                </a:solidFill>
                <a:latin typeface="Helvetica Neue"/>
              </a:rPr>
              <a:t>Why this matters to 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86000"/>
            <a:ext cx="539496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286000"/>
            <a:ext cx="128016" cy="1645920"/>
          </a:xfrm>
          <a:prstGeom prst="rect">
            <a:avLst/>
          </a:prstGeom>
          <a:solidFill>
            <a:srgbClr val="FF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514600"/>
            <a:ext cx="48463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5182B"/>
                </a:solidFill>
                <a:latin typeface="Helvetica Neue"/>
              </a:rPr>
              <a:t>Personal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4A4F6B"/>
                </a:solidFill>
                <a:latin typeface="Helvetica Neue"/>
              </a:rPr>
              <a:t>Every one of us has pulled an all nighter, then forgotten it a week later. This is our own problem. Real, not hypothetical.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286000"/>
            <a:ext cx="539496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2286000"/>
            <a:ext cx="128016" cy="1645920"/>
          </a:xfrm>
          <a:prstGeom prst="rect">
            <a:avLst/>
          </a:prstGeom>
          <a:solidFill>
            <a:srgbClr val="FF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514600"/>
            <a:ext cx="48463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5182B"/>
                </a:solidFill>
                <a:latin typeface="Helvetica Neue"/>
              </a:rPr>
              <a:t>Scale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4A4F6B"/>
                </a:solidFill>
                <a:latin typeface="Helvetica Neue"/>
              </a:rPr>
              <a:t>Thousands of UM students juggle heavy content across many courses. A tool that fits their phone habits helps at scale.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160520"/>
            <a:ext cx="539496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160520"/>
            <a:ext cx="128016" cy="1645920"/>
          </a:xfrm>
          <a:prstGeom prst="rect">
            <a:avLst/>
          </a:prstGeom>
          <a:solidFill>
            <a:srgbClr val="FF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389120"/>
            <a:ext cx="48463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5182B"/>
                </a:solidFill>
                <a:latin typeface="Helvetica Neue"/>
              </a:rPr>
              <a:t>Backed by research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4A4F6B"/>
                </a:solidFill>
                <a:latin typeface="Helvetica Neue"/>
              </a:rPr>
              <a:t>Micro-learning is not a guess. It is supported by cognitive science and by AMPLIFY, a framework validated in Malaysian higher education.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4160520"/>
            <a:ext cx="539496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4160520"/>
            <a:ext cx="128016" cy="1645920"/>
          </a:xfrm>
          <a:prstGeom prst="rect">
            <a:avLst/>
          </a:prstGeom>
          <a:solidFill>
            <a:srgbClr val="FF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4389120"/>
            <a:ext cx="48463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5182B"/>
                </a:solidFill>
                <a:latin typeface="Helvetica Neue"/>
              </a:rPr>
              <a:t>On theme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4A4F6B"/>
                </a:solidFill>
                <a:latin typeface="Helvetica Neue"/>
              </a:rPr>
              <a:t>GFP 0009 asks us to use creativity to design appropriate technology for a real problem. Learning is exactly that.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28016" cy="384048"/>
          </a:xfrm>
          <a:prstGeom prst="rect">
            <a:avLst/>
          </a:prstGeom>
          <a:solidFill>
            <a:srgbClr val="FF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spc="220">
                <a:solidFill>
                  <a:srgbClr val="15182B"/>
                </a:solidFill>
                <a:latin typeface="Helvetica Neue"/>
              </a:rPr>
              <a:t>GFP 0009 · DIGITAL CREATIVITY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8229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spc="160">
                <a:solidFill>
                  <a:srgbClr val="4B4FA6"/>
                </a:solidFill>
                <a:latin typeface="Helvetica Neue"/>
              </a:rPr>
              <a:t>USE OF TECHNOLOGY IN THIS AREA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>
                <a:solidFill>
                  <a:srgbClr val="4A4F6B"/>
                </a:solidFill>
                <a:latin typeface="Helvetica Neue"/>
              </a:rPr>
              <a:t>MicroMentor  ·  Beat the forgetting curve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4B4FA6"/>
                </a:solidFill>
                <a:latin typeface="Helvetica Neue"/>
              </a:rPr>
              <a:t>04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>
                <a:solidFill>
                  <a:srgbClr val="15182B"/>
                </a:solidFill>
                <a:latin typeface="Helvetica Neue"/>
              </a:rPr>
              <a:t>How students learn, then and now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48840"/>
            <a:ext cx="11064240" cy="502920"/>
          </a:xfrm>
          <a:prstGeom prst="rect">
            <a:avLst/>
          </a:prstGeom>
          <a:solidFill>
            <a:srgbClr val="15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48840"/>
            <a:ext cx="1554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spc="120">
                <a:solidFill>
                  <a:srgbClr val="FFFFFF"/>
                </a:solidFill>
                <a:latin typeface="Helvetica Neue"/>
              </a:rPr>
              <a:t>ERA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148840"/>
            <a:ext cx="4297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spc="120">
                <a:solidFill>
                  <a:srgbClr val="FFFFFF"/>
                </a:solidFill>
                <a:latin typeface="Helvetica Neue"/>
              </a:rPr>
              <a:t>TECHNOLOGY USED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148840"/>
            <a:ext cx="4389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spc="120">
                <a:solidFill>
                  <a:srgbClr val="FFFFFF"/>
                </a:solidFill>
                <a:latin typeface="Helvetica Neue"/>
              </a:rPr>
              <a:t>STRENGTH AND LIMITATION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51760"/>
            <a:ext cx="11064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651760"/>
            <a:ext cx="1554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>
                <a:solidFill>
                  <a:srgbClr val="15182B"/>
                </a:solidFill>
                <a:latin typeface="Helvetica Neue"/>
              </a:rPr>
              <a:t>Then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26517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50" b="0">
                <a:solidFill>
                  <a:srgbClr val="4A4F6B"/>
                </a:solidFill>
                <a:latin typeface="Helvetica Neue"/>
              </a:rPr>
              <a:t>Textbooks, printed notes, classroom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651760"/>
            <a:ext cx="43891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50" b="0">
                <a:solidFill>
                  <a:srgbClr val="4A4F6B"/>
                </a:solidFill>
                <a:latin typeface="Helvetica Neue"/>
              </a:rPr>
              <a:t>Not portable, passive, forgotten fast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520440"/>
            <a:ext cx="11064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520440"/>
            <a:ext cx="1554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>
                <a:solidFill>
                  <a:srgbClr val="15182B"/>
                </a:solidFill>
                <a:latin typeface="Helvetica Neue"/>
              </a:rPr>
              <a:t>E-learning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352044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50" b="0">
                <a:solidFill>
                  <a:srgbClr val="4A4F6B"/>
                </a:solidFill>
                <a:latin typeface="Helvetica Neue"/>
              </a:rPr>
              <a:t>LMS like Spectrum and Moodle, PDF slides, recorded lectures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520440"/>
            <a:ext cx="43891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50" b="0">
                <a:solidFill>
                  <a:srgbClr val="4A4F6B"/>
                </a:solidFill>
                <a:latin typeface="Helvetica Neue"/>
              </a:rPr>
              <a:t>Long courses on a screen, same overload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389120"/>
            <a:ext cx="11064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389120"/>
            <a:ext cx="1554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>
                <a:solidFill>
                  <a:srgbClr val="15182B"/>
                </a:solidFill>
                <a:latin typeface="Helvetica Neue"/>
              </a:rPr>
              <a:t>Video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438912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50" b="0">
                <a:solidFill>
                  <a:srgbClr val="4A4F6B"/>
                </a:solidFill>
                <a:latin typeface="Helvetica Neue"/>
              </a:rPr>
              <a:t>YouTube, recorded webinars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4389120"/>
            <a:ext cx="43891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50" b="0">
                <a:solidFill>
                  <a:srgbClr val="4A4F6B"/>
                </a:solidFill>
                <a:latin typeface="Helvetica Neue"/>
              </a:rPr>
              <a:t>Passive, no feedback, easy to zone out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257800"/>
            <a:ext cx="11064240" cy="868680"/>
          </a:xfrm>
          <a:prstGeom prst="rect">
            <a:avLst/>
          </a:prstGeom>
          <a:solidFill>
            <a:srgbClr val="E9EAFB"/>
          </a:solidFill>
          <a:ln w="12700">
            <a:solidFill>
              <a:srgbClr val="E3E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257800"/>
            <a:ext cx="1554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>
                <a:solidFill>
                  <a:srgbClr val="E8452F"/>
                </a:solidFill>
                <a:latin typeface="Helvetica Neue"/>
              </a:rPr>
              <a:t>Now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525780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50" b="1">
                <a:solidFill>
                  <a:srgbClr val="4A4F6B"/>
                </a:solidFill>
                <a:latin typeface="Helvetica Neue"/>
              </a:rPr>
              <a:t>Micro-learning apps like Duolingo, Anki, Quizlet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5257800"/>
            <a:ext cx="43891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50" b="1">
                <a:solidFill>
                  <a:srgbClr val="4A4F6B"/>
                </a:solidFill>
                <a:latin typeface="Helvetica Neue"/>
              </a:rPr>
              <a:t>Short, spaced, gamified, but generic and not tied to your course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4B4FA6"/>
                </a:solidFill>
                <a:latin typeface="Helvetica Neue"/>
              </a:rPr>
              <a:t>The gap. Existing apps are not tied to your lectures. MicroMentor turns your own course material into micro-lessons.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er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>
                <a:solidFill>
                  <a:srgbClr val="9A9FBE"/>
                </a:solidFill>
                <a:latin typeface="Helvetica Neue"/>
              </a:rPr>
              <a:t>MicroMentor  ·  Beat the forgetting curve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FFD23F"/>
                </a:solidFill>
                <a:latin typeface="Helvetica Neue"/>
              </a:rPr>
              <a:t>05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48640"/>
            <a:ext cx="146304" cy="457200"/>
          </a:xfrm>
          <a:prstGeom prst="rect">
            <a:avLst/>
          </a:prstGeom>
          <a:solidFill>
            <a:srgbClr val="FF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02920"/>
            <a:ext cx="6400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spc="220">
                <a:solidFill>
                  <a:srgbClr val="FFD23F"/>
                </a:solidFill>
                <a:latin typeface="Helvetica Neue"/>
              </a:rPr>
              <a:t>OUR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65836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3400" b="1">
                <a:solidFill>
                  <a:srgbClr val="FFFFFF"/>
                </a:solidFill>
                <a:latin typeface="Helvetica Neue"/>
              </a:rPr>
              <a:t>MicroMentor turns your </a:t>
            </a:r>
            <a:r>
              <a:rPr sz="3400" b="1">
                <a:solidFill>
                  <a:srgbClr val="FFD23F"/>
                </a:solidFill>
                <a:latin typeface="Helvetica Neue"/>
              </a:rPr>
              <a:t>lecture notes</a:t>
            </a:r>
            <a:r>
              <a:rPr sz="3400" b="1">
                <a:solidFill>
                  <a:srgbClr val="FFFFFF"/>
                </a:solidFill>
                <a:latin typeface="Helvetica Neue"/>
              </a:rPr>
              <a:t> into short, personalised lessons, with quizzes and spaced reminders so it </a:t>
            </a:r>
            <a:r>
              <a:rPr sz="3400" b="1">
                <a:solidFill>
                  <a:srgbClr val="FF5A47"/>
                </a:solidFill>
                <a:latin typeface="Helvetica Neue"/>
              </a:rPr>
              <a:t>sticks.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617720"/>
            <a:ext cx="109728" cy="457200"/>
          </a:xfrm>
          <a:prstGeom prst="rect">
            <a:avLst/>
          </a:prstGeom>
          <a:solidFill>
            <a:srgbClr val="FF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617720"/>
            <a:ext cx="6035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FFD23F"/>
                </a:solidFill>
                <a:latin typeface="Helvetica Neue"/>
              </a:rPr>
              <a:t>3-5 min lessons   </a:t>
            </a:r>
            <a:r>
              <a:rPr sz="1350">
                <a:solidFill>
                  <a:srgbClr val="C9CCE0"/>
                </a:solidFill>
                <a:latin typeface="Helvetica Neue"/>
              </a:rPr>
              <a:t>One idea at a time, on your phone.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184648"/>
            <a:ext cx="109728" cy="457200"/>
          </a:xfrm>
          <a:prstGeom prst="rect">
            <a:avLst/>
          </a:prstGeom>
          <a:solidFill>
            <a:srgbClr val="FF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184648"/>
            <a:ext cx="6035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FFD23F"/>
                </a:solidFill>
                <a:latin typeface="Helvetica Neue"/>
              </a:rPr>
              <a:t>Smart review   </a:t>
            </a:r>
            <a:r>
              <a:rPr sz="1350">
                <a:solidFill>
                  <a:srgbClr val="C9CCE0"/>
                </a:solidFill>
                <a:latin typeface="Helvetica Neue"/>
              </a:rPr>
              <a:t>Reminds you right before you would forget.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751576"/>
            <a:ext cx="109728" cy="457200"/>
          </a:xfrm>
          <a:prstGeom prst="rect">
            <a:avLst/>
          </a:prstGeom>
          <a:solidFill>
            <a:srgbClr val="FF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751576"/>
            <a:ext cx="6035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FFD23F"/>
                </a:solidFill>
                <a:latin typeface="Helvetica Neue"/>
              </a:rPr>
              <a:t>Learn together   </a:t>
            </a:r>
            <a:r>
              <a:rPr sz="1350">
                <a:solidFill>
                  <a:srgbClr val="C9CCE0"/>
                </a:solidFill>
                <a:latin typeface="Helvetica Neue"/>
              </a:rPr>
              <a:t>A class leaderboard and a Q&amp;A wall.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28016" cy="384048"/>
          </a:xfrm>
          <a:prstGeom prst="rect">
            <a:avLst/>
          </a:prstGeom>
          <a:solidFill>
            <a:srgbClr val="FF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spc="220">
                <a:solidFill>
                  <a:srgbClr val="15182B"/>
                </a:solidFill>
                <a:latin typeface="Helvetica Neue"/>
              </a:rPr>
              <a:t>GFP 0009 · DIGITAL CREATIVITY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8229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spc="160">
                <a:solidFill>
                  <a:srgbClr val="4B4FA6"/>
                </a:solidFill>
                <a:latin typeface="Helvetica Neue"/>
              </a:rPr>
              <a:t>APPLYING THE AMPLIFY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>
                <a:solidFill>
                  <a:srgbClr val="4A4F6B"/>
                </a:solidFill>
                <a:latin typeface="Helvetica Neue"/>
              </a:rPr>
              <a:t>MicroMentor  ·  Beat the forgetting curve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4B4FA6"/>
                </a:solidFill>
                <a:latin typeface="Helvetica Neue"/>
              </a:rPr>
              <a:t>06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>
                <a:solidFill>
                  <a:srgbClr val="15182B"/>
                </a:solidFill>
                <a:latin typeface="Helvetica Neue"/>
              </a:rPr>
              <a:t>AMPLIFY, applied to MicroMentor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3852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4A4F6B"/>
                </a:solidFill>
                <a:latin typeface="Helvetica Neue"/>
              </a:rPr>
              <a:t>AMPLIFY is a microlearning model by Nurul Fitriah Alias (UM, 2024). Its seven components become our seven design decisions.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14016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F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41401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395728"/>
            <a:ext cx="4297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5182B"/>
                </a:solidFill>
                <a:latin typeface="Helvetica Neue"/>
              </a:rPr>
              <a:t>Clear learning objectives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2395728"/>
            <a:ext cx="6035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4F6B"/>
                </a:solidFill>
                <a:latin typeface="Helvetica Neue"/>
              </a:rPr>
              <a:t>One goal per lesson, like explain the light reaction.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4894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F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9489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930652"/>
            <a:ext cx="4297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5182B"/>
                </a:solidFill>
                <a:latin typeface="Helvetica Neue"/>
              </a:rPr>
              <a:t>Personalised content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2930652"/>
            <a:ext cx="6035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4F6B"/>
                </a:solidFill>
                <a:latin typeface="Helvetica Neue"/>
              </a:rPr>
              <a:t>Adapts to your course and your weak spots.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483864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F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48386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465576"/>
            <a:ext cx="4297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5182B"/>
                </a:solidFill>
                <a:latin typeface="Helvetica Neue"/>
              </a:rPr>
              <a:t>Continuous feedback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3465576"/>
            <a:ext cx="6035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4F6B"/>
                </a:solidFill>
                <a:latin typeface="Helvetica Neue"/>
              </a:rPr>
              <a:t>Instant answers plus spaced review reminders.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018788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F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01878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Helvetica Neue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000500"/>
            <a:ext cx="4297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5182B"/>
                </a:solidFill>
                <a:latin typeface="Helvetica Neue"/>
              </a:rPr>
              <a:t>Efficient content delivery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4000500"/>
            <a:ext cx="6035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4F6B"/>
                </a:solidFill>
                <a:latin typeface="Helvetica Neue"/>
              </a:rPr>
              <a:t>3 to 5 minutes, mobile first, works offline.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553712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F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5537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Helvetica Neue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535424"/>
            <a:ext cx="4297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5182B"/>
                </a:solidFill>
                <a:latin typeface="Helvetica Neue"/>
              </a:rPr>
              <a:t>Interactive experiences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77840" y="4535424"/>
            <a:ext cx="6035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4F6B"/>
                </a:solidFill>
                <a:latin typeface="Helvetica Neue"/>
              </a:rPr>
              <a:t>Tap, drag and scenario questions. Never passive.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088636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F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08863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Helvetica Neue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070348"/>
            <a:ext cx="4297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5182B"/>
                </a:solidFill>
                <a:latin typeface="Helvetica Neue"/>
              </a:rPr>
              <a:t>Social interaction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5070348"/>
            <a:ext cx="6035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4F6B"/>
                </a:solidFill>
                <a:latin typeface="Helvetica Neue"/>
              </a:rPr>
              <a:t>A class leaderboard and a peer Q&amp;A wall.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62356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F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6235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Helvetica Neue"/>
              </a:rP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88720" y="5605272"/>
            <a:ext cx="4297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5182B"/>
                </a:solidFill>
                <a:latin typeface="Helvetica Neue"/>
              </a:rPr>
              <a:t>Seamless curriculum integration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77840" y="5605272"/>
            <a:ext cx="6035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4F6B"/>
                </a:solidFill>
                <a:latin typeface="Helvetica Neue"/>
              </a:rPr>
              <a:t>Lessons map to your real syllabus.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28016" cy="384048"/>
          </a:xfrm>
          <a:prstGeom prst="rect">
            <a:avLst/>
          </a:prstGeom>
          <a:solidFill>
            <a:srgbClr val="FF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spc="220">
                <a:solidFill>
                  <a:srgbClr val="15182B"/>
                </a:solidFill>
                <a:latin typeface="Helvetica Neue"/>
              </a:rPr>
              <a:t>GFP 0009 · DIGITAL CREATIVITY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8229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spc="160">
                <a:solidFill>
                  <a:srgbClr val="4B4FA6"/>
                </a:solidFill>
                <a:latin typeface="Helvetica Neue"/>
              </a:rPr>
              <a:t>DESIGNING THE SOLUTION · STORYBOARD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>
                <a:solidFill>
                  <a:srgbClr val="4A4F6B"/>
                </a:solidFill>
                <a:latin typeface="Helvetica Neue"/>
              </a:rPr>
              <a:t>MicroMentor  ·  Beat the forgetting curve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4B4FA6"/>
                </a:solidFill>
                <a:latin typeface="Helvetica Neue"/>
              </a:rPr>
              <a:t>07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>
                <a:solidFill>
                  <a:srgbClr val="15182B"/>
                </a:solidFill>
                <a:latin typeface="Helvetica Neue"/>
              </a:rPr>
              <a:t>Aina's story in six frames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48840"/>
            <a:ext cx="347472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2423160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E9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4231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4B4FA6"/>
                </a:solidFill>
                <a:latin typeface="Helvetica Neue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41448"/>
            <a:ext cx="2286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182B"/>
                </a:solidFill>
                <a:latin typeface="Helvetica Neue"/>
              </a:rPr>
              <a:t>The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6324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4A4F6B"/>
                </a:solidFill>
                <a:latin typeface="Helvetica Neue"/>
              </a:rPr>
              <a:t>Aina faces 120 slides the night before her exam. Panic.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59" y="2148840"/>
            <a:ext cx="347472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26279" y="2423160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E9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79" y="24231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4B4FA6"/>
                </a:solidFill>
                <a:latin typeface="Helvetica Neue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79" y="2441448"/>
            <a:ext cx="2286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182B"/>
                </a:solidFill>
                <a:latin typeface="Helvetica Neue"/>
              </a:rPr>
              <a:t>Discovery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7" y="306324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4A4F6B"/>
                </a:solidFill>
                <a:latin typeface="Helvetica Neue"/>
              </a:rPr>
              <a:t>She opens MicroMentor. It says do three short lessons today.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79" y="2148840"/>
            <a:ext cx="347472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29599" y="2423160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E9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9" y="24231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4B4FA6"/>
                </a:solidFill>
                <a:latin typeface="Helvetica Neue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399" y="2441448"/>
            <a:ext cx="2286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182B"/>
                </a:solidFill>
                <a:latin typeface="Helvetica Neue"/>
              </a:rPr>
              <a:t>Learning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7" y="306324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4A4F6B"/>
                </a:solidFill>
                <a:latin typeface="Helvetica Neue"/>
              </a:rPr>
              <a:t>A three minute lesson, one clear goal, tap to answer.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114800"/>
            <a:ext cx="347472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2960" y="4389120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E9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38912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4B4FA6"/>
                </a:solidFill>
                <a:latin typeface="Helvetica Neue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4407408"/>
            <a:ext cx="2286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182B"/>
                </a:solidFill>
                <a:latin typeface="Helvetica Neue"/>
              </a:rPr>
              <a:t>Feedback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" y="502920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4A4F6B"/>
                </a:solidFill>
                <a:latin typeface="Helvetica Neue"/>
              </a:rPr>
              <a:t>Instant tick and a reason. A reminder brings it back tomorrow.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51959" y="4114800"/>
            <a:ext cx="347472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526279" y="4389120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E9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26279" y="438912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4B4FA6"/>
                </a:solidFill>
                <a:latin typeface="Helvetica Neue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4407408"/>
            <a:ext cx="2286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182B"/>
                </a:solidFill>
                <a:latin typeface="Helvetica Neue"/>
              </a:rPr>
              <a:t>Together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44567" y="502920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4A4F6B"/>
                </a:solidFill>
                <a:latin typeface="Helvetica Neue"/>
              </a:rPr>
              <a:t>She checks the class leaderboard and asks a question on the wall.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55279" y="4114800"/>
            <a:ext cx="347472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229599" y="4389120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E9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599" y="438912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4B4FA6"/>
                </a:solidFill>
                <a:latin typeface="Helvetica Neue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15399" y="4407408"/>
            <a:ext cx="2286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182B"/>
                </a:solidFill>
                <a:latin typeface="Helvetica Neue"/>
              </a:rPr>
              <a:t>Outcome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47887" y="502920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4A4F6B"/>
                </a:solidFill>
                <a:latin typeface="Helvetica Neue"/>
              </a:rPr>
              <a:t>Exam week arrives. She feels calm, confident, and actually remembers.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28016" cy="384048"/>
          </a:xfrm>
          <a:prstGeom prst="rect">
            <a:avLst/>
          </a:prstGeom>
          <a:solidFill>
            <a:srgbClr val="FF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spc="220">
                <a:solidFill>
                  <a:srgbClr val="15182B"/>
                </a:solidFill>
                <a:latin typeface="Helvetica Neue"/>
              </a:rPr>
              <a:t>GFP 0009 · DIGITAL CREATIVITY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8229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spc="160">
                <a:solidFill>
                  <a:srgbClr val="4B4FA6"/>
                </a:solidFill>
                <a:latin typeface="Helvetica Neue"/>
              </a:rPr>
              <a:t>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>
                <a:solidFill>
                  <a:srgbClr val="4A4F6B"/>
                </a:solidFill>
                <a:latin typeface="Helvetica Neue"/>
              </a:rPr>
              <a:t>MicroMentor  ·  Beat the forgetting curve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4B4FA6"/>
                </a:solidFill>
                <a:latin typeface="Helvetica Neue"/>
              </a:rPr>
              <a:t>08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600" b="1">
                <a:solidFill>
                  <a:srgbClr val="15182B"/>
                </a:solidFill>
                <a:latin typeface="Helvetica Neue"/>
              </a:rPr>
              <a:t>The clickable prototype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40280"/>
            <a:ext cx="502920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50" b="1">
                <a:solidFill>
                  <a:srgbClr val="FF5A47"/>
                </a:solidFill>
                <a:latin typeface="Helvetica Neue"/>
              </a:rPr>
              <a:t>●  </a:t>
            </a:r>
            <a:r>
              <a:rPr sz="1550" b="0">
                <a:solidFill>
                  <a:srgbClr val="15182B"/>
                </a:solidFill>
                <a:latin typeface="Helvetica Neue"/>
              </a:rPr>
              <a:t>Built in Figma. Seven core screens, fully clickable.</a:t>
            </a:r>
          </a:p>
          <a:p>
            <a:pPr lvl="1">
              <a:lnSpc>
                <a:spcPct val="112000"/>
              </a:lnSpc>
              <a:spcAft>
                <a:spcPts val="1000"/>
              </a:spcAft>
            </a:pPr>
            <a:r>
              <a:rPr sz="1350" b="1">
                <a:solidFill>
                  <a:srgbClr val="4B4FA6"/>
                </a:solidFill>
                <a:latin typeface="Helvetica Neue"/>
              </a:rPr>
              <a:t>·  </a:t>
            </a:r>
            <a:r>
              <a:rPr sz="1450" b="0">
                <a:solidFill>
                  <a:srgbClr val="15182B"/>
                </a:solidFill>
                <a:latin typeface="Helvetica Neue"/>
              </a:rPr>
              <a:t>Onboarding. Pick your course and level, which feeds M.</a:t>
            </a:r>
          </a:p>
          <a:p>
            <a:pPr lvl="1">
              <a:lnSpc>
                <a:spcPct val="112000"/>
              </a:lnSpc>
              <a:spcAft>
                <a:spcPts val="1000"/>
              </a:spcAft>
            </a:pPr>
            <a:r>
              <a:rPr sz="1350" b="1">
                <a:solidFill>
                  <a:srgbClr val="4B4FA6"/>
                </a:solidFill>
                <a:latin typeface="Helvetica Neue"/>
              </a:rPr>
              <a:t>·  </a:t>
            </a:r>
            <a:r>
              <a:rPr sz="1450" b="0">
                <a:solidFill>
                  <a:srgbClr val="15182B"/>
                </a:solidFill>
                <a:latin typeface="Helvetica Neue"/>
              </a:rPr>
              <a:t>Today's lessons home, two or three bite sized cards (A, L).</a:t>
            </a:r>
          </a:p>
          <a:p>
            <a:pPr lvl="1">
              <a:lnSpc>
                <a:spcPct val="112000"/>
              </a:lnSpc>
              <a:spcAft>
                <a:spcPts val="1000"/>
              </a:spcAft>
            </a:pPr>
            <a:r>
              <a:rPr sz="1350" b="1">
                <a:solidFill>
                  <a:srgbClr val="4B4FA6"/>
                </a:solidFill>
                <a:latin typeface="Helvetica Neue"/>
              </a:rPr>
              <a:t>·  </a:t>
            </a:r>
            <a:r>
              <a:rPr sz="1450" b="0">
                <a:solidFill>
                  <a:srgbClr val="15182B"/>
                </a:solidFill>
                <a:latin typeface="Helvetica Neue"/>
              </a:rPr>
              <a:t>Lesson screen, a short visual plus a tap question (I).</a:t>
            </a:r>
          </a:p>
          <a:p>
            <a:pPr lvl="1">
              <a:lnSpc>
                <a:spcPct val="112000"/>
              </a:lnSpc>
              <a:spcAft>
                <a:spcPts val="1000"/>
              </a:spcAft>
            </a:pPr>
            <a:r>
              <a:rPr sz="1350" b="1">
                <a:solidFill>
                  <a:srgbClr val="4B4FA6"/>
                </a:solidFill>
                <a:latin typeface="Helvetica Neue"/>
              </a:rPr>
              <a:t>·  </a:t>
            </a:r>
            <a:r>
              <a:rPr sz="1450" b="0">
                <a:solidFill>
                  <a:srgbClr val="15182B"/>
                </a:solidFill>
                <a:latin typeface="Helvetica Neue"/>
              </a:rPr>
              <a:t>Instant feedback, the reason, and your streak (P).</a:t>
            </a:r>
          </a:p>
          <a:p>
            <a:pPr lvl="1">
              <a:lnSpc>
                <a:spcPct val="112000"/>
              </a:lnSpc>
              <a:spcAft>
                <a:spcPts val="1000"/>
              </a:spcAft>
            </a:pPr>
            <a:r>
              <a:rPr sz="1350" b="1">
                <a:solidFill>
                  <a:srgbClr val="4B4FA6"/>
                </a:solidFill>
                <a:latin typeface="Helvetica Neue"/>
              </a:rPr>
              <a:t>·  </a:t>
            </a:r>
            <a:r>
              <a:rPr sz="1450" b="0">
                <a:solidFill>
                  <a:srgbClr val="15182B"/>
                </a:solidFill>
                <a:latin typeface="Helvetica Neue"/>
              </a:rPr>
              <a:t>Class wall and leaderboard (F).</a:t>
            </a:r>
          </a:p>
          <a:p>
            <a:pPr lvl="1">
              <a:lnSpc>
                <a:spcPct val="112000"/>
              </a:lnSpc>
              <a:spcAft>
                <a:spcPts val="1000"/>
              </a:spcAft>
            </a:pPr>
            <a:r>
              <a:rPr sz="1350" b="1">
                <a:solidFill>
                  <a:srgbClr val="4B4FA6"/>
                </a:solidFill>
                <a:latin typeface="Helvetica Neue"/>
              </a:rPr>
              <a:t>·  </a:t>
            </a:r>
            <a:r>
              <a:rPr sz="1450" b="0">
                <a:solidFill>
                  <a:srgbClr val="15182B"/>
                </a:solidFill>
                <a:latin typeface="Helvetica Neue"/>
              </a:rPr>
              <a:t>Syllabus playlists mapped to the course (Y).</a:t>
            </a:r>
          </a:p>
        </p:txBody>
      </p:sp>
      <p:pic>
        <p:nvPicPr>
          <p:cNvPr id="10" name="Picture 9" descr="phones-t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2331720"/>
            <a:ext cx="6949440" cy="38770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52160" y="594360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4A4F6B"/>
                </a:solidFill>
                <a:latin typeface="Helvetica Neue"/>
              </a:rPr>
              <a:t>Home · progress · class wall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28016" cy="384048"/>
          </a:xfrm>
          <a:prstGeom prst="rect">
            <a:avLst/>
          </a:prstGeom>
          <a:solidFill>
            <a:srgbClr val="FF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spc="220">
                <a:solidFill>
                  <a:srgbClr val="15182B"/>
                </a:solidFill>
                <a:latin typeface="Helvetica Neue"/>
              </a:rPr>
              <a:t>GFP 0009 · DIGITAL CREATIVITY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8229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spc="160">
                <a:solidFill>
                  <a:srgbClr val="4B4FA6"/>
                </a:solidFill>
                <a:latin typeface="Helvetica Neue"/>
              </a:rPr>
              <a:t>TESTING &amp;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>
                <a:solidFill>
                  <a:srgbClr val="4A4F6B"/>
                </a:solidFill>
                <a:latin typeface="Helvetica Neue"/>
              </a:rPr>
              <a:t>MicroMentor  ·  Beat the forgetting curve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4B4FA6"/>
                </a:solidFill>
                <a:latin typeface="Helvetica Neue"/>
              </a:rPr>
              <a:t>09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>
                <a:solidFill>
                  <a:srgbClr val="15182B"/>
                </a:solidFill>
                <a:latin typeface="Helvetica Neue"/>
              </a:rPr>
              <a:t>We tested with peers, then changed four things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452F"/>
                </a:solidFill>
                <a:latin typeface="Helvetica Neue"/>
              </a:rPr>
              <a:t>WHAT USERS SAID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10312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B4FA6"/>
                </a:solidFill>
                <a:latin typeface="Helvetica Neue"/>
              </a:rPr>
              <a:t>WHAT WE CHANGED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606040"/>
            <a:ext cx="502920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606040"/>
            <a:ext cx="4572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5182B"/>
                </a:solidFill>
                <a:latin typeface="Helvetica Neue"/>
              </a:rPr>
              <a:t>Feedback did not say why an answer was wrong.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715000" y="2852928"/>
            <a:ext cx="457200" cy="274320"/>
          </a:xfrm>
          <a:prstGeom prst="rightArrow">
            <a:avLst/>
          </a:prstGeom>
          <a:solidFill>
            <a:srgbClr val="FF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09360" y="2606040"/>
            <a:ext cx="5029200" cy="777240"/>
          </a:xfrm>
          <a:prstGeom prst="roundRect">
            <a:avLst>
              <a:gd name="adj" fmla="val 10000"/>
            </a:avLst>
          </a:prstGeom>
          <a:solidFill>
            <a:srgbClr val="E9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2606040"/>
            <a:ext cx="4572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5182B"/>
                </a:solidFill>
                <a:latin typeface="Helvetica Neue"/>
              </a:rPr>
              <a:t>We added a one line explanation to every result.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520440"/>
            <a:ext cx="502920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520440"/>
            <a:ext cx="4572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5182B"/>
                </a:solidFill>
                <a:latin typeface="Helvetica Neue"/>
              </a:rPr>
              <a:t>Making a lesson took too many steps.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715000" y="3767328"/>
            <a:ext cx="457200" cy="274320"/>
          </a:xfrm>
          <a:prstGeom prst="rightArrow">
            <a:avLst/>
          </a:prstGeom>
          <a:solidFill>
            <a:srgbClr val="FF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09360" y="3520440"/>
            <a:ext cx="5029200" cy="777240"/>
          </a:xfrm>
          <a:prstGeom prst="roundRect">
            <a:avLst>
              <a:gd name="adj" fmla="val 10000"/>
            </a:avLst>
          </a:prstGeom>
          <a:solidFill>
            <a:srgbClr val="E9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520440"/>
            <a:ext cx="4572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5182B"/>
                </a:solidFill>
                <a:latin typeface="Helvetica Neue"/>
              </a:rPr>
              <a:t>We cut the create lesson flow from six steps to three.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434840"/>
            <a:ext cx="502920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434840"/>
            <a:ext cx="4572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5182B"/>
                </a:solidFill>
                <a:latin typeface="Helvetica Neue"/>
              </a:rPr>
              <a:t>The leaderboard felt stressful for some.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715000" y="4681728"/>
            <a:ext cx="457200" cy="274320"/>
          </a:xfrm>
          <a:prstGeom prst="rightArrow">
            <a:avLst/>
          </a:prstGeom>
          <a:solidFill>
            <a:srgbClr val="FF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09360" y="4434840"/>
            <a:ext cx="5029200" cy="777240"/>
          </a:xfrm>
          <a:prstGeom prst="roundRect">
            <a:avLst>
              <a:gd name="adj" fmla="val 10000"/>
            </a:avLst>
          </a:prstGeom>
          <a:solidFill>
            <a:srgbClr val="E9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4434840"/>
            <a:ext cx="4572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5182B"/>
                </a:solidFill>
                <a:latin typeface="Helvetica Neue"/>
              </a:rPr>
              <a:t>We made it opt in and class only.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349240"/>
            <a:ext cx="502920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349240"/>
            <a:ext cx="4572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5182B"/>
                </a:solidFill>
                <a:latin typeface="Helvetica Neue"/>
              </a:rPr>
              <a:t>People wanted a language choice.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5715000" y="5596128"/>
            <a:ext cx="457200" cy="274320"/>
          </a:xfrm>
          <a:prstGeom prst="rightArrow">
            <a:avLst/>
          </a:prstGeom>
          <a:solidFill>
            <a:srgbClr val="FF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309360" y="5349240"/>
            <a:ext cx="5029200" cy="777240"/>
          </a:xfrm>
          <a:prstGeom prst="roundRect">
            <a:avLst>
              <a:gd name="adj" fmla="val 10000"/>
            </a:avLst>
          </a:prstGeom>
          <a:solidFill>
            <a:srgbClr val="E9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5349240"/>
            <a:ext cx="4572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5182B"/>
                </a:solidFill>
                <a:latin typeface="Helvetica Neue"/>
              </a:rPr>
              <a:t>We added a Bahasa Melayu and English toggle.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28016" cy="384048"/>
          </a:xfrm>
          <a:prstGeom prst="rect">
            <a:avLst/>
          </a:prstGeom>
          <a:solidFill>
            <a:srgbClr val="FF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spc="220">
                <a:solidFill>
                  <a:srgbClr val="15182B"/>
                </a:solidFill>
                <a:latin typeface="Helvetica Neue"/>
              </a:rPr>
              <a:t>GFP 0009 · DIGITAL CREATIVITY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8229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spc="160">
                <a:solidFill>
                  <a:srgbClr val="4B4FA6"/>
                </a:solidFill>
                <a:latin typeface="Helvetica Neue"/>
              </a:rPr>
              <a:t>PROJECT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>
                <a:solidFill>
                  <a:srgbClr val="4A4F6B"/>
                </a:solidFill>
                <a:latin typeface="Helvetica Neue"/>
              </a:rPr>
              <a:t>MicroMentor  ·  Beat the forgetting curve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4B4FA6"/>
                </a:solidFill>
                <a:latin typeface="Helvetica Neue"/>
              </a:rPr>
              <a:t>10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15182B"/>
                </a:solidFill>
                <a:latin typeface="Helvetica Neue"/>
              </a:rPr>
              <a:t>Timeline, sustainability and commercialisation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452F"/>
                </a:solidFill>
                <a:latin typeface="Helvetica Neue"/>
              </a:rPr>
              <a:t>14 WEEK TIMELINE, ALIGNED TO THE COURSE SCHEDULE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697480"/>
            <a:ext cx="10881360" cy="45720"/>
          </a:xfrm>
          <a:prstGeom prst="rect">
            <a:avLst/>
          </a:prstGeom>
          <a:solidFill>
            <a:srgbClr val="C7C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5880" y="2606040"/>
            <a:ext cx="219456" cy="219456"/>
          </a:xfrm>
          <a:prstGeom prst="ellipse">
            <a:avLst/>
          </a:prstGeom>
          <a:solidFill>
            <a:srgbClr val="FF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92608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5182B"/>
                </a:solidFill>
                <a:latin typeface="Helvetica Neue"/>
              </a:rPr>
              <a:t>Wk 1-4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46120"/>
            <a:ext cx="1737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4F6B"/>
                </a:solidFill>
                <a:latin typeface="Helvetica Neue"/>
              </a:rPr>
              <a:t>Research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4F6B"/>
                </a:solidFill>
                <a:latin typeface="Helvetica Neue"/>
              </a:rPr>
              <a:t>the problem</a:t>
            </a:r>
          </a:p>
        </p:txBody>
      </p:sp>
      <p:sp>
        <p:nvSpPr>
          <p:cNvPr id="14" name="Oval 13"/>
          <p:cNvSpPr/>
          <p:nvPr/>
        </p:nvSpPr>
        <p:spPr>
          <a:xfrm>
            <a:off x="3182112" y="2606040"/>
            <a:ext cx="219456" cy="219456"/>
          </a:xfrm>
          <a:prstGeom prst="ellipse">
            <a:avLst/>
          </a:prstGeom>
          <a:solidFill>
            <a:srgbClr val="FF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04872" y="292608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5182B"/>
                </a:solidFill>
                <a:latin typeface="Helvetica Neue"/>
              </a:rPr>
              <a:t>Wk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04872" y="3246120"/>
            <a:ext cx="1737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4F6B"/>
                </a:solidFill>
                <a:latin typeface="Helvetica Neue"/>
              </a:rPr>
              <a:t>Map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4F6B"/>
                </a:solidFill>
                <a:latin typeface="Helvetica Neue"/>
              </a:rPr>
              <a:t>AMPLIFY</a:t>
            </a:r>
          </a:p>
        </p:txBody>
      </p:sp>
      <p:sp>
        <p:nvSpPr>
          <p:cNvPr id="17" name="Oval 16"/>
          <p:cNvSpPr/>
          <p:nvPr/>
        </p:nvSpPr>
        <p:spPr>
          <a:xfrm>
            <a:off x="5038343" y="2606040"/>
            <a:ext cx="219456" cy="219456"/>
          </a:xfrm>
          <a:prstGeom prst="ellipse">
            <a:avLst/>
          </a:prstGeom>
          <a:solidFill>
            <a:srgbClr val="FF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61103" y="292608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5182B"/>
                </a:solidFill>
                <a:latin typeface="Helvetica Neue"/>
              </a:rPr>
              <a:t>Wk 6-7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61103" y="3246120"/>
            <a:ext cx="1737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4F6B"/>
                </a:solidFill>
                <a:latin typeface="Helvetica Neue"/>
              </a:rPr>
              <a:t>Ideate,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4F6B"/>
                </a:solidFill>
                <a:latin typeface="Helvetica Neue"/>
              </a:rPr>
              <a:t>Assign 1</a:t>
            </a:r>
          </a:p>
        </p:txBody>
      </p:sp>
      <p:sp>
        <p:nvSpPr>
          <p:cNvPr id="20" name="Oval 19"/>
          <p:cNvSpPr/>
          <p:nvPr/>
        </p:nvSpPr>
        <p:spPr>
          <a:xfrm>
            <a:off x="6894576" y="2606040"/>
            <a:ext cx="219456" cy="219456"/>
          </a:xfrm>
          <a:prstGeom prst="ellipse">
            <a:avLst/>
          </a:prstGeom>
          <a:solidFill>
            <a:srgbClr val="FF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17336" y="292608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5182B"/>
                </a:solidFill>
                <a:latin typeface="Helvetica Neue"/>
              </a:rPr>
              <a:t>Wk 8-9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17336" y="3246120"/>
            <a:ext cx="1737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4F6B"/>
                </a:solidFill>
                <a:latin typeface="Helvetica Neue"/>
              </a:rPr>
              <a:t>Prototype,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4F6B"/>
                </a:solidFill>
                <a:latin typeface="Helvetica Neue"/>
              </a:rPr>
              <a:t>storyboard</a:t>
            </a:r>
          </a:p>
        </p:txBody>
      </p:sp>
      <p:sp>
        <p:nvSpPr>
          <p:cNvPr id="23" name="Oval 22"/>
          <p:cNvSpPr/>
          <p:nvPr/>
        </p:nvSpPr>
        <p:spPr>
          <a:xfrm>
            <a:off x="8750807" y="2606040"/>
            <a:ext cx="219456" cy="219456"/>
          </a:xfrm>
          <a:prstGeom prst="ellipse">
            <a:avLst/>
          </a:prstGeom>
          <a:solidFill>
            <a:srgbClr val="FF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73567" y="292608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5182B"/>
                </a:solidFill>
                <a:latin typeface="Helvetica Neue"/>
              </a:rPr>
              <a:t>Wk 10-11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73567" y="3246120"/>
            <a:ext cx="1737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4F6B"/>
                </a:solidFill>
                <a:latin typeface="Helvetica Neue"/>
              </a:rPr>
              <a:t>Usability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4F6B"/>
                </a:solidFill>
                <a:latin typeface="Helvetica Neue"/>
              </a:rPr>
              <a:t>test</a:t>
            </a:r>
          </a:p>
        </p:txBody>
      </p:sp>
      <p:sp>
        <p:nvSpPr>
          <p:cNvPr id="26" name="Oval 25"/>
          <p:cNvSpPr/>
          <p:nvPr/>
        </p:nvSpPr>
        <p:spPr>
          <a:xfrm>
            <a:off x="10607039" y="2606040"/>
            <a:ext cx="219456" cy="219456"/>
          </a:xfrm>
          <a:prstGeom prst="ellipse">
            <a:avLst/>
          </a:prstGeom>
          <a:solidFill>
            <a:srgbClr val="FF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9799" y="292608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5182B"/>
                </a:solidFill>
                <a:latin typeface="Helvetica Neue"/>
              </a:rPr>
              <a:t>Wk 12-14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799" y="3246120"/>
            <a:ext cx="1737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4F6B"/>
                </a:solidFill>
                <a:latin typeface="Helvetica Neue"/>
              </a:rPr>
              <a:t>Iterate,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4F6B"/>
                </a:solidFill>
                <a:latin typeface="Helvetica Neue"/>
              </a:rPr>
              <a:t>Assign 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297680"/>
            <a:ext cx="342900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4297680"/>
            <a:ext cx="3429000" cy="109728"/>
          </a:xfrm>
          <a:prstGeom prst="rect">
            <a:avLst/>
          </a:prstGeom>
          <a:solidFill>
            <a:srgbClr val="FF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4572000"/>
            <a:ext cx="2834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5182B"/>
                </a:solidFill>
                <a:latin typeface="Helvetica Neue"/>
              </a:rPr>
              <a:t>Sustainability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4A4F6B"/>
                </a:solidFill>
                <a:latin typeface="Helvetica Neue"/>
              </a:rPr>
              <a:t>Free tools only, like Figma, Canva and the UM e-portfolio. No cost to the course. Going digital means no printed notes.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51959" y="4297680"/>
            <a:ext cx="342900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51959" y="4297680"/>
            <a:ext cx="3429000" cy="109728"/>
          </a:xfrm>
          <a:prstGeom prst="rect">
            <a:avLst/>
          </a:prstGeom>
          <a:solidFill>
            <a:srgbClr val="FF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1999" y="4572000"/>
            <a:ext cx="2834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5182B"/>
                </a:solidFill>
                <a:latin typeface="Helvetica Neue"/>
              </a:rPr>
              <a:t>Commercialisation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4A4F6B"/>
                </a:solidFill>
                <a:latin typeface="Helvetica Neue"/>
              </a:rPr>
              <a:t>Freemium. Free for the basics, a low fee for premium. Sell ready made lesson packs by course. Bilingual in BM and English.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55279" y="4297680"/>
            <a:ext cx="342900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955279" y="4297680"/>
            <a:ext cx="3429000" cy="109728"/>
          </a:xfrm>
          <a:prstGeom prst="rect">
            <a:avLst/>
          </a:prstGeom>
          <a:solidFill>
            <a:srgbClr val="FF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75319" y="4572000"/>
            <a:ext cx="2834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5182B"/>
                </a:solidFill>
                <a:latin typeface="Helvetica Neue"/>
              </a:rPr>
              <a:t>Creativity extras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4A4F6B"/>
                </a:solidFill>
                <a:latin typeface="Helvetica Neue"/>
              </a:rPr>
              <a:t>Bilingual with audio, an offline mode, and gentle analytics that coach you rather than rank you.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28016" cy="384048"/>
          </a:xfrm>
          <a:prstGeom prst="rect">
            <a:avLst/>
          </a:prstGeom>
          <a:solidFill>
            <a:srgbClr val="FF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7315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spc="220">
                <a:solidFill>
                  <a:srgbClr val="15182B"/>
                </a:solidFill>
                <a:latin typeface="Helvetica Neue"/>
              </a:rPr>
              <a:t>GFP 0009 · DIGITAL CREATIVITY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8229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spc="160">
                <a:solidFill>
                  <a:srgbClr val="4B4FA6"/>
                </a:solidFill>
                <a:latin typeface="Helvetica Neue"/>
              </a:rPr>
              <a:t>FUTURE USE &amp;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>
                <a:solidFill>
                  <a:srgbClr val="4A4F6B"/>
                </a:solidFill>
                <a:latin typeface="Helvetica Neue"/>
              </a:rPr>
              <a:t>MicroMentor  ·  Beat the forgetting curve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4B4FA6"/>
                </a:solidFill>
                <a:latin typeface="Helvetica Neue"/>
              </a:rPr>
              <a:t>11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>
                <a:solidFill>
                  <a:srgbClr val="15182B"/>
                </a:solidFill>
                <a:latin typeface="Helvetica Neue"/>
              </a:rPr>
              <a:t>Where it is heading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566928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FF5A47"/>
                </a:solidFill>
                <a:latin typeface="Helvetica Neue"/>
              </a:rPr>
              <a:t>●  </a:t>
            </a:r>
            <a:r>
              <a:rPr sz="1600" b="0">
                <a:solidFill>
                  <a:srgbClr val="15182B"/>
                </a:solidFill>
                <a:latin typeface="Helvetica Neue"/>
              </a:rPr>
              <a:t>AI turns any PDF of notes into lessons and quizzes in minutes.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FF5A47"/>
                </a:solidFill>
                <a:latin typeface="Helvetica Neue"/>
              </a:rPr>
              <a:t>●  </a:t>
            </a:r>
            <a:r>
              <a:rPr sz="1600" b="0">
                <a:solidFill>
                  <a:srgbClr val="15182B"/>
                </a:solidFill>
                <a:latin typeface="Helvetica Neue"/>
              </a:rPr>
              <a:t>It lives inside WhatsApp and Teams, so you learn where you already are.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FF5A47"/>
                </a:solidFill>
                <a:latin typeface="Helvetica Neue"/>
              </a:rPr>
              <a:t>●  </a:t>
            </a:r>
            <a:r>
              <a:rPr sz="1600" b="0">
                <a:solidFill>
                  <a:srgbClr val="15182B"/>
                </a:solidFill>
                <a:latin typeface="Helvetica Neue"/>
              </a:rPr>
              <a:t>Micro-credentials and badges that follow you between courses.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FF5A47"/>
                </a:solidFill>
                <a:latin typeface="Helvetica Neue"/>
              </a:rPr>
              <a:t>●  </a:t>
            </a:r>
            <a:r>
              <a:rPr sz="1600" b="0">
                <a:solidFill>
                  <a:srgbClr val="15182B"/>
                </a:solidFill>
                <a:latin typeface="Helvetica Neue"/>
              </a:rPr>
              <a:t>We design it responsibly. No notification fatigue, private data, always bilingual.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194560"/>
            <a:ext cx="5120640" cy="3566160"/>
          </a:xfrm>
          <a:prstGeom prst="roundRect">
            <a:avLst>
              <a:gd name="adj" fmla="val 5000"/>
            </a:avLst>
          </a:prstGeom>
          <a:solidFill>
            <a:srgbClr val="15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2560320"/>
            <a:ext cx="44805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100" b="1" i="0">
                <a:solidFill>
                  <a:srgbClr val="FFD23F"/>
                </a:solidFill>
                <a:latin typeface="Helvetica Neue"/>
              </a:rPr>
              <a:t>THE TAKEAWAY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sz="1900" b="1" i="0">
                <a:solidFill>
                  <a:srgbClr val="FFFFFF"/>
                </a:solidFill>
                <a:latin typeface="Helvetica Neue"/>
              </a:rPr>
              <a:t>Creativity is most powerful when it is aimed at a real problem and structured by a sound model.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C9CCE0"/>
                </a:solidFill>
                <a:latin typeface="Helvetica Neue"/>
              </a:rPr>
              <a:t>MicroMentor applies AMPLIFY to make learning short, personal and sticky. Appropriate technology for students.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er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>
                <a:solidFill>
                  <a:srgbClr val="9A9FBE"/>
                </a:solidFill>
                <a:latin typeface="Helvetica Neue"/>
              </a:rPr>
              <a:t>MicroMentor  ·  Beat the forgetting curve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FFD23F"/>
                </a:solidFill>
                <a:latin typeface="Helvetica Neue"/>
              </a:rPr>
              <a:t>12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6400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6000" b="1">
                <a:solidFill>
                  <a:srgbClr val="FFFFFF"/>
                </a:solidFill>
                <a:latin typeface="Helvetica Neue"/>
              </a:rPr>
              <a:t>Terima kasih</a:t>
            </a:r>
            <a:r>
              <a:rPr sz="6000" b="1">
                <a:solidFill>
                  <a:srgbClr val="FF5A47"/>
                </a:solidFill>
                <a:latin typeface="Helvetica Neue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6400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300">
                <a:solidFill>
                  <a:srgbClr val="C9CCE0"/>
                </a:solidFill>
                <a:latin typeface="Helvetica Neue"/>
              </a:rPr>
              <a:t>Questions? Let us </a:t>
            </a:r>
            <a:r>
              <a:rPr sz="2300" b="1">
                <a:solidFill>
                  <a:srgbClr val="FFD23F"/>
                </a:solidFill>
                <a:latin typeface="Helvetica Neue"/>
              </a:rPr>
              <a:t>MicroMentor</a:t>
            </a:r>
            <a:r>
              <a:rPr sz="2300">
                <a:solidFill>
                  <a:srgbClr val="C9CCE0"/>
                </a:solidFill>
                <a:latin typeface="Helvetica Neue"/>
              </a:rPr>
              <a:t> your notes.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02920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9A9FBE"/>
                </a:solidFill>
                <a:latin typeface="Helvetica Neue"/>
              </a:rPr>
              <a:t>Aisyatun Nabiha binti Mohamed Husain · 25004128    |    GFP 0009 · Dr. Rafiza binti Abdul Razak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