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28016" cy="384048"/>
          </a:xfrm>
          <a:prstGeom prst="rect">
            <a:avLst/>
          </a:prstGeom>
          <a:solidFill>
            <a:srgbClr val="FF5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57200"/>
            <a:ext cx="7315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 spc="220">
                <a:solidFill>
                  <a:srgbClr val="15182B"/>
                </a:solidFill>
                <a:latin typeface="Helvetica Neue"/>
              </a:rPr>
              <a:t>GFP 0009 · DIGITAL CREATIVITY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82296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 spc="160">
                <a:solidFill>
                  <a:srgbClr val="4B4FA6"/>
                </a:solidFill>
                <a:latin typeface="Helvetica Neue"/>
              </a:rPr>
              <a:t>APPLYING THE AMPLIFY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5182B"/>
                </a:solidFill>
                <a:latin typeface="Helvetica Neue"/>
              </a:rPr>
              <a:t>AMPLIFY, applied to MicroMentor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38528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1">
                <a:solidFill>
                  <a:srgbClr val="4A4F6B"/>
                </a:solidFill>
                <a:latin typeface="Helvetica Neue"/>
              </a:rPr>
              <a:t>AMPLIFY is a microlearning model by Nurul Fitriah Alias (UM, 2024). Its seven components become our seven design decisions.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414016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FF5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414016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Helvetica Neue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395728"/>
            <a:ext cx="42976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 i="0">
                <a:solidFill>
                  <a:srgbClr val="15182B"/>
                </a:solidFill>
                <a:latin typeface="Helvetica Neue"/>
              </a:rPr>
              <a:t>Clear learning objectives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77840" y="2395728"/>
            <a:ext cx="60350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4A4F6B"/>
                </a:solidFill>
                <a:latin typeface="Helvetica Neue"/>
              </a:rPr>
              <a:t>One goal per lesson, like explain the light reaction.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94894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FF5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94894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Helvetica Neue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2930652"/>
            <a:ext cx="42976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 i="0">
                <a:solidFill>
                  <a:srgbClr val="15182B"/>
                </a:solidFill>
                <a:latin typeface="Helvetica Neue"/>
              </a:rPr>
              <a:t>Personalised content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77840" y="2930652"/>
            <a:ext cx="60350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4A4F6B"/>
                </a:solidFill>
                <a:latin typeface="Helvetica Neue"/>
              </a:rPr>
              <a:t>Adapts to your course and your weak spots.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483864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FF5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483864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Helvetica Neue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3465576"/>
            <a:ext cx="42976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 i="0">
                <a:solidFill>
                  <a:srgbClr val="15182B"/>
                </a:solidFill>
                <a:latin typeface="Helvetica Neue"/>
              </a:rPr>
              <a:t>Continuous feedback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77840" y="3465576"/>
            <a:ext cx="60350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4A4F6B"/>
                </a:solidFill>
                <a:latin typeface="Helvetica Neue"/>
              </a:rPr>
              <a:t>Instant answers plus spaced review reminders.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018788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FF5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018788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Helvetica Neue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4000500"/>
            <a:ext cx="42976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 i="0">
                <a:solidFill>
                  <a:srgbClr val="15182B"/>
                </a:solidFill>
                <a:latin typeface="Helvetica Neue"/>
              </a:rPr>
              <a:t>Efficient content delivery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77840" y="4000500"/>
            <a:ext cx="60350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4A4F6B"/>
                </a:solidFill>
                <a:latin typeface="Helvetica Neue"/>
              </a:rPr>
              <a:t>3 to 5 minutes, mobile first, works offline.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553712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FF5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455371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Helvetica Neue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20" y="4535424"/>
            <a:ext cx="42976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 i="0">
                <a:solidFill>
                  <a:srgbClr val="15182B"/>
                </a:solidFill>
                <a:latin typeface="Helvetica Neue"/>
              </a:rPr>
              <a:t>Interactive experiences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77840" y="4535424"/>
            <a:ext cx="60350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4A4F6B"/>
                </a:solidFill>
                <a:latin typeface="Helvetica Neue"/>
              </a:rPr>
              <a:t>Tap, drag and scenario questions. Never passive.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5088636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FF5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5088636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Helvetica Neue"/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88720" y="5070348"/>
            <a:ext cx="42976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 i="0">
                <a:solidFill>
                  <a:srgbClr val="15182B"/>
                </a:solidFill>
                <a:latin typeface="Helvetica Neue"/>
              </a:rPr>
              <a:t>Social interaction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77840" y="5070348"/>
            <a:ext cx="60350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4A4F6B"/>
                </a:solidFill>
                <a:latin typeface="Helvetica Neue"/>
              </a:rPr>
              <a:t>A class leaderboard and a peer Q&amp;A wall.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562356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FF5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562356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Helvetica Neue"/>
              </a:rPr>
              <a:t>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88720" y="5605272"/>
            <a:ext cx="42976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 i="0">
                <a:solidFill>
                  <a:srgbClr val="15182B"/>
                </a:solidFill>
                <a:latin typeface="Helvetica Neue"/>
              </a:rPr>
              <a:t>Seamless curriculum integration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77840" y="5605272"/>
            <a:ext cx="60350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4A4F6B"/>
                </a:solidFill>
                <a:latin typeface="Helvetica Neue"/>
              </a:rPr>
              <a:t>Lessons map to your real syllabus.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