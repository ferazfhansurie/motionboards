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914400"/>
            <a:ext cx="2194560" cy="2194560"/>
          </a:xfrm>
          <a:prstGeom prst="ellipse">
            <a:avLst/>
          </a:prstGeom>
          <a:solidFill>
            <a:srgbClr val="12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0" y="5120640"/>
            <a:ext cx="1463040" cy="1463040"/>
          </a:xfrm>
          <a:prstGeom prst="ellipse">
            <a:avLst/>
          </a:prstGeom>
          <a:solidFill>
            <a:srgbClr val="12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2688336" cy="329184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2688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22B"/>
                </a:solidFill>
                <a:latin typeface="Segoe UI Semibold"/>
              </a:rPr>
              <a:t>GFP 009  ·  DIGITAL CREATIVITY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78308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600" b="1">
                <a:solidFill>
                  <a:srgbClr val="FFFFFF"/>
                </a:solidFill>
                <a:latin typeface="Segoe UI Semibold"/>
              </a:rPr>
              <a:t>SahkahIni</a:t>
            </a:r>
            <a:r>
              <a:rPr sz="7600" b="1">
                <a:solidFill>
                  <a:srgbClr val="2DD4BF"/>
                </a:solidFill>
                <a:latin typeface="Segoe UI Semibold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C8D3E6"/>
                </a:solidFill>
                <a:latin typeface="Segoe UI"/>
              </a:rPr>
              <a:t>An AI WhatsApp bot that fact-checks forwarded messages &amp; images — in Bahasa Malaysia.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1258214" cy="32918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25821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22B"/>
                </a:solidFill>
                <a:latin typeface="Segoe UI Semibold"/>
              </a:rPr>
              <a:t>AMPLIFY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977639"/>
            <a:ext cx="1678838" cy="329184"/>
          </a:xfrm>
          <a:prstGeom prst="roundRect">
            <a:avLst/>
          </a:prstGeom>
          <a:solidFill>
            <a:srgbClr val="12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977639"/>
            <a:ext cx="167883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8D3E6"/>
                </a:solidFill>
                <a:latin typeface="Segoe UI Semibold"/>
              </a:rPr>
              <a:t>MEDIA STUDIES · 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Segoe UI Semibold"/>
              </a:rPr>
              <a:t>PREPARED BY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Aisyatun Nabiha</a:t>
            </a:r>
            <a:r>
              <a:rPr sz="1500" b="0">
                <a:solidFill>
                  <a:srgbClr val="64748B"/>
                </a:solidFill>
                <a:latin typeface="Segoe UI"/>
              </a:rPr>
              <a:t>    ·    Ahli Kumpulan 2    ·    Ahli Kumpulan 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Faculty of Arts &amp; Social Sciences (Media Studies), Universiti Malaya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 Semibold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What this deck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2015337" cy="329184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201533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22B"/>
                </a:solidFill>
                <a:latin typeface="Segoe UI Semibold"/>
              </a:rPr>
              <a:t>TUGASAN 1  ·  40 MARKS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73152" cy="8412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505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01 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88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The problem in one breath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00984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198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02  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5818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Issue, significance, justification, objectives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70248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270248"/>
            <a:ext cx="73152" cy="8412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03  Use of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274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Past tools vs today's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39512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239512"/>
            <a:ext cx="73152" cy="8412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3583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04  Future Reflection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9671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Trends shaping adoption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783080"/>
            <a:ext cx="2015337" cy="32918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783080"/>
            <a:ext cx="201533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22B"/>
                </a:solidFill>
                <a:latin typeface="Segoe UI Semibold"/>
              </a:rPr>
              <a:t>TUGASAN 2  ·  60 MARKS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331720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2331720"/>
            <a:ext cx="73152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4505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05  Project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788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Timeline, sustainability, commercialisation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300984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300984"/>
            <a:ext cx="73152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4198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06  Designing the 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75818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Define → Prototype → Test → Evaluate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270248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270248"/>
            <a:ext cx="73152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389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07  Storyboard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2744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How a user experiences SahkahIni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239512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5239512"/>
            <a:ext cx="73152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3583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08  Peer Eval · Conclusion · Docs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69671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Improvements &amp;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0" b="1">
                <a:solidFill>
                  <a:srgbClr val="121C3D"/>
                </a:solidFill>
                <a:latin typeface="Segoe UI Semi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Segoe UI Semibold"/>
              </a:rPr>
              <a:t>TUGASAN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703320"/>
            <a:ext cx="128016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9319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8D3E6"/>
                </a:solidFill>
                <a:latin typeface="Segoe UI"/>
              </a:rPr>
              <a:t>Problem &amp; Justification  ·  40 marks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 Semibold"/>
              </a:rPr>
              <a:t>1 · INTRODUCTION (5%)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Every day, a hoax goes viral before the truth wakes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6035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E293B"/>
                </a:solidFill>
                <a:latin typeface="Segoe UI Semibold"/>
              </a:rPr>
              <a:t>The vector:  </a:t>
            </a:r>
            <a:r>
              <a:rPr sz="1400">
                <a:solidFill>
                  <a:srgbClr val="64748B"/>
                </a:solidFill>
                <a:latin typeface="Segoe UI"/>
              </a:rPr>
              <a:t>WhatsApp is Malaysia's #1 messaging app — and its #1 misinformation channel. A single 'forwarded many times' message reaches thousands in minutes.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E293B"/>
                </a:solidFill>
                <a:latin typeface="Segoe UI Semibold"/>
              </a:rPr>
              <a:t>The harm:  </a:t>
            </a:r>
            <a:r>
              <a:rPr sz="1400">
                <a:solidFill>
                  <a:srgbClr val="64748B"/>
                </a:solidFill>
                <a:latin typeface="Segoe UI"/>
              </a:rPr>
              <a:t>health scams, fake 'free' giveaways, doctored images, and political rumours that erode public trust.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E293B"/>
                </a:solidFill>
                <a:latin typeface="Segoe UI Semibold"/>
              </a:rPr>
              <a:t>The gap:  </a:t>
            </a:r>
            <a:r>
              <a:rPr sz="1400">
                <a:solidFill>
                  <a:srgbClr val="64748B"/>
                </a:solidFill>
                <a:latin typeface="Segoe UI"/>
              </a:rPr>
              <a:t>most fact-checking tools are slow, manual, and English-first — leaving Bahasa Malaysia users unprotected.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400" b="1">
                <a:solidFill>
                  <a:srgbClr val="1E293B"/>
                </a:solidFill>
                <a:latin typeface="Segoe UI Semibold"/>
              </a:rPr>
              <a:t>Our answer:  </a:t>
            </a:r>
            <a:r>
              <a:rPr sz="1400">
                <a:solidFill>
                  <a:srgbClr val="64748B"/>
                </a:solidFill>
                <a:latin typeface="Segoe UI"/>
              </a:rPr>
              <a:t>SahkahIni? — forward any suspicious message to a bot and get a clear Benar / Palsu / Belum Disahkan verdict, with sources,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402336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1828800"/>
            <a:ext cx="4023360" cy="6400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122B"/>
                </a:solidFill>
                <a:latin typeface="Segoe UI Semibold"/>
              </a:rPr>
              <a:t>SahkahIni? 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697480"/>
            <a:ext cx="3474720" cy="868680"/>
          </a:xfrm>
          <a:prstGeom prst="round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788920"/>
            <a:ext cx="3200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Segoe UI"/>
              </a:rPr>
              <a:t>“Bank akan tutup akaun jika tak update IC...”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749039"/>
            <a:ext cx="1645920" cy="502920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749039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PALSU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4434840"/>
            <a:ext cx="3566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Segoe UI Semibold"/>
              </a:rPr>
              <a:t>Why:</a:t>
            </a:r>
            <a:r>
              <a:rPr sz="1200" b="0">
                <a:solidFill>
                  <a:srgbClr val="64748B"/>
                </a:solidFill>
                <a:latin typeface="Segoe UI"/>
              </a:rPr>
              <a:t> matches a known scam pattern flagged by MCMC &amp; banks.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Segoe UI Semibold"/>
              </a:rPr>
              <a:t>Source:</a:t>
            </a:r>
            <a:r>
              <a:rPr sz="1100" b="0">
                <a:solidFill>
                  <a:srgbClr val="64748B"/>
                </a:solidFill>
                <a:latin typeface="Segoe UI"/>
              </a:rPr>
              <a:t> Sebenarnya.my · BNM advisory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 Semibold"/>
              </a:rPr>
              <a:t>2A · PROBLEM STATEMENT (10%)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The issue — history &amp;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943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350" b="1">
                <a:solidFill>
                  <a:srgbClr val="1E293B"/>
                </a:solidFill>
                <a:latin typeface="Segoe UI Semibold"/>
              </a:rPr>
              <a:t>2018 onward:  </a:t>
            </a:r>
            <a:r>
              <a:rPr sz="1350">
                <a:solidFill>
                  <a:srgbClr val="64748B"/>
                </a:solidFill>
                <a:latin typeface="Segoe UI"/>
              </a:rPr>
              <a:t>misinformation surges globally; Malaysia debates the Anti-Fake News Act.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350" b="1">
                <a:solidFill>
                  <a:srgbClr val="1E293B"/>
                </a:solidFill>
                <a:latin typeface="Segoe UI Semibold"/>
              </a:rPr>
              <a:t>WhatsApp design:  </a:t>
            </a:r>
            <a:r>
              <a:rPr sz="1350">
                <a:solidFill>
                  <a:srgbClr val="64748B"/>
                </a:solidFill>
                <a:latin typeface="Segoe UI"/>
              </a:rPr>
              <a:t>frictionless forwarding + closed groups make corrections impossible to trace.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350" b="1">
                <a:solidFill>
                  <a:srgbClr val="1E293B"/>
                </a:solidFill>
                <a:latin typeface="Segoe UI Semibold"/>
              </a:rPr>
              <a:t>Pandemic peak:  </a:t>
            </a:r>
            <a:r>
              <a:rPr sz="1350">
                <a:solidFill>
                  <a:srgbClr val="64748B"/>
                </a:solidFill>
                <a:latin typeface="Segoe UI"/>
              </a:rPr>
              <a:t>COVID-19 health hoaxes (fake cures, vaccine myths) spread faster than official advice.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350" b="1">
                <a:solidFill>
                  <a:srgbClr val="1E293B"/>
                </a:solidFill>
                <a:latin typeface="Segoe UI Semibold"/>
              </a:rPr>
              <a:t>Government response:  </a:t>
            </a:r>
            <a:r>
              <a:rPr sz="1350">
                <a:solidFill>
                  <a:srgbClr val="64748B"/>
                </a:solidFill>
                <a:latin typeface="Segoe UI"/>
              </a:rPr>
              <a:t>MCMC launches Sebenarnya.my; still manual, reactive, and not where people actually chat.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350" b="1">
                <a:solidFill>
                  <a:srgbClr val="1E293B"/>
                </a:solidFill>
                <a:latin typeface="Segoe UI Semibold"/>
              </a:rPr>
              <a:t>Language gap:  </a:t>
            </a:r>
            <a:r>
              <a:rPr sz="1350">
                <a:solidFill>
                  <a:srgbClr val="64748B"/>
                </a:solidFill>
                <a:latin typeface="Segoe UI"/>
              </a:rPr>
              <a:t>leading AI fact-checkers (Snopes, ClaimBuster) are English-centric — BM content slips through.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42062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182880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993392"/>
            <a:ext cx="3749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Key references to cite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MCMC &amp; Sebenarnya.my reports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Reuters Institute Digital News Report (MY)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Academic work on WhatsApp misinformation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Bank Negara scam advisories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931920"/>
            <a:ext cx="42062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3931920"/>
            <a:ext cx="73152" cy="192024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4096512"/>
            <a:ext cx="3749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The core problem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Malaysians lack a fast, trusted,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BM-native way to verify a message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at the exact moment they receive it —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inside the chat app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 Semibold"/>
              </a:rPr>
              <a:t>2B · 2C · PROBLEM STATEMENT (10%)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Significance &amp; justification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1206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73152" cy="1874519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66344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b · Significance to our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250" b="1">
                <a:solidFill>
                  <a:srgbClr val="1E293B"/>
                </a:solidFill>
                <a:latin typeface="Segoe UI Semibold"/>
              </a:rPr>
              <a:t>Media students:  </a:t>
            </a:r>
            <a:r>
              <a:rPr sz="1250">
                <a:solidFill>
                  <a:srgbClr val="64748B"/>
                </a:solidFill>
                <a:latin typeface="Segoe UI"/>
              </a:rPr>
              <a:t>we're trained to spot manipulation — most of our families are not.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250" b="1">
                <a:solidFill>
                  <a:srgbClr val="1E293B"/>
                </a:solidFill>
                <a:latin typeface="Segoe UI Semibold"/>
              </a:rPr>
              <a:t>Personal:  </a:t>
            </a:r>
            <a:r>
              <a:rPr sz="1250">
                <a:solidFill>
                  <a:srgbClr val="64748B"/>
                </a:solidFill>
                <a:latin typeface="Segoe UI"/>
              </a:rPr>
              <a:t>we've all watched relatives forward hoaxes in group chats.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0749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18745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993392"/>
            <a:ext cx="461772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c · Justification — why solve it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4617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250" b="1">
                <a:solidFill>
                  <a:srgbClr val="1E293B"/>
                </a:solidFill>
                <a:latin typeface="Segoe UI Semibold"/>
              </a:rPr>
              <a:t>Real damage:  </a:t>
            </a:r>
            <a:r>
              <a:rPr sz="1250">
                <a:solidFill>
                  <a:srgbClr val="64748B"/>
                </a:solidFill>
                <a:latin typeface="Segoe UI"/>
              </a:rPr>
              <a:t>financial scams, public-health risk, social tension.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250" b="1">
                <a:solidFill>
                  <a:srgbClr val="1E293B"/>
                </a:solidFill>
                <a:latin typeface="Segoe UI Semibold"/>
              </a:rPr>
              <a:t>Tools fall short:  </a:t>
            </a:r>
            <a:r>
              <a:rPr sz="1250">
                <a:solidFill>
                  <a:srgbClr val="64748B"/>
                </a:solidFill>
                <a:latin typeface="Segoe UI"/>
              </a:rPr>
              <a:t>slow, manual, English-first, outside the chat.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2688336" cy="329184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2688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22B"/>
                </a:solidFill>
                <a:latin typeface="Segoe UI Semibold"/>
              </a:rPr>
              <a:t>d · PROJECT OBJECTIVES (SMART)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25420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26280"/>
            <a:ext cx="2542032" cy="4572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Segoe UI Semibold"/>
              </a:rPr>
              <a:t>O1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2176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Verify a forwarded BM message in under 30 seconds.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11296" y="4526280"/>
            <a:ext cx="25420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11296" y="4526280"/>
            <a:ext cx="2542032" cy="4572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45262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Segoe UI Semibold"/>
              </a:rPr>
              <a:t>O2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5074920"/>
            <a:ext cx="2176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Support text + image (reverse-image) + voice-note claims.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526280"/>
            <a:ext cx="25420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526280"/>
            <a:ext cx="2542032" cy="4572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45262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Segoe UI Semibold"/>
              </a:rPr>
              <a:t>O3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5074920"/>
            <a:ext cx="2176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Return a clear verdict with at least one credible source.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4526280"/>
            <a:ext cx="2542032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4526280"/>
            <a:ext cx="2542032" cy="4572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45262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Segoe UI Semibold"/>
              </a:rPr>
              <a:t>O4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5074920"/>
            <a:ext cx="21762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Reach everyday users where they already are — inside WhatsApp.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 Semibold"/>
              </a:rPr>
              <a:t>3 · USE OF TECHNOLOGY (10%)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From manual desks to multimodal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E293B"/>
                </a:solidFill>
                <a:latin typeface="Segoe UI Semibold"/>
              </a:rPr>
              <a:t>Previously used:  </a:t>
            </a:r>
            <a:r>
              <a:rPr sz="1300">
                <a:solidFill>
                  <a:srgbClr val="64748B"/>
                </a:solidFill>
                <a:latin typeface="Segoe UI"/>
              </a:rPr>
              <a:t>manual fact-check desks, browser plug-ins, reverse-image search, English-only AI classifiers (ClaimBuster, Snopes).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DD4BF"/>
                </a:solidFill>
                <a:latin typeface="Segoe UI Semibold"/>
              </a:rPr>
              <a:t>▸  </a:t>
            </a:r>
            <a:r>
              <a:rPr sz="1300" b="1">
                <a:solidFill>
                  <a:srgbClr val="1E293B"/>
                </a:solidFill>
                <a:latin typeface="Segoe UI Semibold"/>
              </a:rPr>
              <a:t>Current new tech:  </a:t>
            </a:r>
            <a:r>
              <a:rPr sz="1300">
                <a:solidFill>
                  <a:srgbClr val="64748B"/>
                </a:solidFill>
                <a:latin typeface="Segoe UI"/>
              </a:rPr>
              <a:t>LLMs for claim detection, multimodal AI (image+text), WhatsApp Business API bots, RAG over verified-news databases.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83080"/>
            <a:ext cx="1678838" cy="32918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783080"/>
            <a:ext cx="167883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122B"/>
                </a:solidFill>
                <a:latin typeface="Segoe UI Semibold"/>
              </a:rPr>
              <a:t>THE INNOVATION GAP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35040" y="2240280"/>
          <a:ext cx="548640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1524000"/>
                <a:gridCol w="1524000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Capability</a:t>
                      </a:r>
                    </a:p>
                  </a:txBody>
                  <a:tcPr marL="91440" marR="91440" marT="36576" marB="36576" anchor="ctr">
                    <a:solidFill>
                      <a:srgbClr val="0B1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Existing</a:t>
                      </a:r>
                    </a:p>
                  </a:txBody>
                  <a:tcPr marL="91440" marR="91440" marT="36576" marB="36576" anchor="ctr">
                    <a:solidFill>
                      <a:srgbClr val="0B1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SahkahIni</a:t>
                      </a:r>
                    </a:p>
                  </a:txBody>
                  <a:tcPr marL="91440" marR="91440" marT="36576" marB="36576" anchor="ctr">
                    <a:solidFill>
                      <a:srgbClr val="0B12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Bahasa Malaysia native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Limited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Inside the chat app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Text + image + voice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Instant (&lt;30s)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Cites sources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Varies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Segoe UI"/>
                        </a:rPr>
                        <a:t>Always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2960" y="420624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Why the table matters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This 'existing vs ours' comparison is where the rubric awards Ideation / product-innovation marks. It proves SahkahIni isn't a copy — it closes a real, named gap.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 Semibold"/>
              </a:rPr>
              <a:t>4 · FUTURE REFLECTION (5%)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Where this technology is heading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20240"/>
            <a:ext cx="73152" cy="24688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84832"/>
            <a:ext cx="2148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Agentic AI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Bots that investigate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a claim end-to-end,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not just classify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5304" y="192024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75304" y="1920240"/>
            <a:ext cx="73152" cy="246888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2084832"/>
            <a:ext cx="2148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Deepfake era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Image/voice/video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verification becomes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essential, not optional.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92024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920240"/>
            <a:ext cx="73152" cy="2468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84832"/>
            <a:ext cx="2148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On-device + privacy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Verification that never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uploads your private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chats to a server.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192024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9992" y="1920240"/>
            <a:ext cx="73152" cy="24688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2084832"/>
            <a:ext cx="2148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Regulation &amp; schools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Integration into WhatsApp,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newsrooms, and media-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literacy curricula.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Adoption outlook:</a:t>
            </a:r>
            <a:r>
              <a:rPr sz="1300" b="0">
                <a:solidFill>
                  <a:srgbClr val="64748B"/>
                </a:solidFill>
                <a:latin typeface="Segoe UI"/>
              </a:rPr>
              <a:t>  As deepfakes scale and regulators push platform accountability, a BM-native, in-chat verifier moves from 'nice to have' to public infrastructure — embedded in WhatsApp itself, taught in schools, and used by newsrooms.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0" b="1">
                <a:solidFill>
                  <a:srgbClr val="121C3D"/>
                </a:solidFill>
                <a:latin typeface="Segoe UI Semi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Segoe UI Semibold"/>
              </a:rPr>
              <a:t>TUGASAN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70332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9319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8D3E6"/>
                </a:solidFill>
                <a:latin typeface="Segoe UI"/>
              </a:rPr>
              <a:t>Solution &amp; Project Management  ·  60 marks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Segoe UI Semibold"/>
              </a:rPr>
              <a:t>4A · PROJECT MANAGEMENT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Timeline — mapped to the course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74519"/>
          <a:ext cx="10515599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759"/>
                <a:gridCol w="1752600"/>
                <a:gridCol w="5257800"/>
                <a:gridCol w="186944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Phase</a:t>
                      </a:r>
                    </a:p>
                  </a:txBody>
                  <a:tcPr marL="91440" marR="91440" marT="36576" marB="36576" anchor="ctr">
                    <a:solidFill>
                      <a:srgbClr val="0B1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Course weeks</a:t>
                      </a:r>
                    </a:p>
                  </a:txBody>
                  <a:tcPr marL="91440" marR="91440" marT="36576" marB="36576" anchor="ctr">
                    <a:solidFill>
                      <a:srgbClr val="0B1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Activity</a:t>
                      </a:r>
                    </a:p>
                  </a:txBody>
                  <a:tcPr marL="91440" marR="91440" marT="36576" marB="36576" anchor="ctr">
                    <a:solidFill>
                      <a:srgbClr val="0B1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AMPLIFY</a:t>
                      </a:r>
                    </a:p>
                  </a:txBody>
                  <a:tcPr marL="91440" marR="91440" marT="36576" marB="36576" anchor="ctr">
                    <a:solidFill>
                      <a:srgbClr val="0B12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Define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1–2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Problem research, references, objectives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A · Ask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Map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3–4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Survey existing tools, build gap table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M · Map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Ideate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5–6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Concept sketches, pick best solution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P · Picture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Prototype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7–9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Storyboard + clickable bot mock-up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L · Layout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10–11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Trial with users, peer evaluation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I · Iterate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Finalise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Wk 12–13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Report, e-portfolio, presentation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  <a:latin typeface="Segoe UI"/>
                        </a:rPr>
                        <a:t>F · Finalise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Segoe UI Semibold"/>
              </a:rPr>
              <a:t>4B · 4C · 4D · PROJECT MANAGEMENT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Sustainability, commercialisation &amp; creativity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3832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73152" cy="40233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292608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b · Sustainability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No further funding needed: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Runs on free / low-cost API tiers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Open-source AI models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Student-maintained as a club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Cloud free-tier hosting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Community-sourced fact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832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73152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993392"/>
            <a:ext cx="292608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c · Commercialisation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Freemium model: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Free for the public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Paid API for newsrooms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Enterprise tier for govt 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  brands fighting scams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Partnership: MCMC,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  Sebenarnya.my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828800"/>
            <a:ext cx="33832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28800"/>
            <a:ext cx="73152" cy="402336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1993392"/>
            <a:ext cx="292608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d · Others (creativity)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Make it loveable: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Friendly mascot &amp; BM voice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Gamified 'Trust Score'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Shareable correction cards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Weekly 'Top Hoax' digest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School workshop kit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Segoe UI Semibold"/>
              </a:rPr>
              <a:t>5A · PROCESS (30)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Designing the solution — the design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  <p:sp>
        <p:nvSpPr>
          <p:cNvPr id="9" name="Oval 8"/>
          <p:cNvSpPr/>
          <p:nvPr/>
        </p:nvSpPr>
        <p:spPr>
          <a:xfrm>
            <a:off x="1508760" y="2011680"/>
            <a:ext cx="640080" cy="6400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011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34640"/>
            <a:ext cx="199339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34640"/>
            <a:ext cx="199339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17520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2044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Pin the problem &amp; users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34640" y="3520440"/>
            <a:ext cx="146304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66744" y="20116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2011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80944" y="2834640"/>
            <a:ext cx="199339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80944" y="2834640"/>
            <a:ext cx="1993392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18104" y="3017520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IDEATE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8104" y="352044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Brainstorm, pick best concept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92624" y="3520440"/>
            <a:ext cx="146304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4728" y="2011680"/>
            <a:ext cx="640080" cy="6400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4728" y="2011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8928" y="2834640"/>
            <a:ext cx="199339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8928" y="2834640"/>
            <a:ext cx="1993392" cy="54864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6088" y="3017520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352044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Storyboard + bot mock-up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50608" y="3520440"/>
            <a:ext cx="146304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82712" y="2011680"/>
            <a:ext cx="640080" cy="6400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2712" y="2011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2834640"/>
            <a:ext cx="199339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96912" y="2834640"/>
            <a:ext cx="199339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34072" y="3017520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4072" y="352044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Trial with real users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308592" y="3520440"/>
            <a:ext cx="146304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40696" y="20116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0696" y="20116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54896" y="2834640"/>
            <a:ext cx="199339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54896" y="2834640"/>
            <a:ext cx="1993392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92056" y="3017520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Segoe UI Semibold"/>
              </a:rPr>
              <a:t>EVALUATE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92056" y="352044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Measure &amp; refine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Defining → Ideation → Prototyping → Testing → Evaluation. </a:t>
            </a:r>
            <a:r>
              <a:rPr sz="1300" b="0">
                <a:solidFill>
                  <a:srgbClr val="64748B"/>
                </a:solidFill>
                <a:latin typeface="Segoe UI"/>
              </a:rPr>
              <a:t>Each loop feeds the next; testing failures send us back to ideate. The storyboard (next slide) is our core prototype artefact.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Segoe UI Semibold"/>
              </a:rPr>
              <a:t>5A · STORYBOARD WITH DESCRIPTIONS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How a user experiences SahkahIni?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338328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1 · Receive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95728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User gets a suspicious 'forwarded many times' message in a family group.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3383280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2 ·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95728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They forward it to the SahkahIni? WhatsApp number. Bot replies: “Nak saya semak?”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828800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828800"/>
            <a:ext cx="338328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8288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3 · 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395728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AI reads the text + reverse-searches any image against verified sources.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31919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931919"/>
            <a:ext cx="3383280" cy="4572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93191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4 · Verdict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498847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Bot returns a card: PALSU / BENAR / BELUM DISAHKAN, with a plain-BM reason.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931919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931919"/>
            <a:ext cx="3383280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93191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5 ·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498847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Verdict links to Sebenarnya.my / news so the user can check for themselves.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3931919"/>
            <a:ext cx="33832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3931919"/>
            <a:ext cx="338328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93191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6 · 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498847"/>
            <a:ext cx="29809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User shares the correction card back to the group — truth travels too.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Segoe UI Semibold"/>
              </a:rPr>
              <a:t>5B · RECOMMENDATIONS FOR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Peer evaluation drives the next iteration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74519"/>
          <a:ext cx="10515598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8517"/>
                <a:gridCol w="4123764"/>
                <a:gridCol w="1443317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Feedback from testers / peers</a:t>
                      </a:r>
                    </a:p>
                  </a:txBody>
                  <a:tcPr marL="91440" marR="91440" marT="36576" marB="36576" anchor="ctr">
                    <a:solidFill>
                      <a:srgbClr val="0B1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Action taken</a:t>
                      </a:r>
                    </a:p>
                  </a:txBody>
                  <a:tcPr marL="91440" marR="91440" marT="36576" marB="36576" anchor="ctr">
                    <a:solidFill>
                      <a:srgbClr val="0B12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Status</a:t>
                      </a:r>
                    </a:p>
                  </a:txBody>
                  <a:tcPr marL="91440" marR="91440" marT="36576" marB="36576" anchor="ctr">
                    <a:solidFill>
                      <a:srgbClr val="0B12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Verdict felt too technical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Rewrote replies in everyday BM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Users unsure how to start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Added “forward &amp; ask” onboarding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Wanted to verify images too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Added reverse-image search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Worried about privacy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Added on-device / no-store option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Planned</a:t>
                      </a:r>
                    </a:p>
                  </a:txBody>
                  <a:tcPr marL="91440" marR="91440" marT="36576" marB="36576" anchor="ctr"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93B"/>
                          </a:solidFill>
                          <a:latin typeface="Segoe UI"/>
                        </a:rPr>
                        <a:t>Asked for voice-note support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Added speech-to-text claim check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64748B"/>
                          </a:solidFill>
                          <a:latin typeface="Segoe UI"/>
                        </a:rPr>
                        <a:t>Planned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Segoe UI Semibold"/>
              </a:rPr>
              <a:t>Peer evaluation method:  </a:t>
            </a:r>
            <a:r>
              <a:rPr sz="1300" b="0">
                <a:solidFill>
                  <a:srgbClr val="64748B"/>
                </a:solidFill>
                <a:latin typeface="Segoe UI"/>
              </a:rPr>
              <a:t>each team member + 5 external testers rated clarity, speed, and trust on a 1–5 scale; lowest-scoring areas became the improvement backlog above.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 Semibold"/>
              </a:rP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How SahkahIni? applies the AMPLIFY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892808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2880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2880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Define the misinformation problem &amp; who it harms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450592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2514600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1460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450592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5059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Review existing tools; find the BM / in-chat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072384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136392"/>
            <a:ext cx="438912" cy="438912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36392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072384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Picture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072384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Ideate the bot concept; pick the best solution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694176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3758184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5818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694176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Layout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694176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Storyboard + clickable WhatsApp prototype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315968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437997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79976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315968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Iterate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315968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Test with users; peer evaluation loop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937760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4400" y="5001768"/>
            <a:ext cx="438912" cy="438912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001768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93776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Finalise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937760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Ship the verified-verdict experience &amp;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559552"/>
            <a:ext cx="105156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5623560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62356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5559552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Yield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555955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Sustainability, commercialisation &amp; future impact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Segoe UI Semibold"/>
              </a:rPr>
              <a:t>5C · 5D · CONCLUSION &amp; DOCUMENTATION (10)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293B"/>
                </a:solidFill>
                <a:latin typeface="Segoe UI Semibold"/>
              </a:rPr>
              <a:t>Wrap-up, recommendations &amp;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SahkahIni?  ·  GFP 009 Digital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12064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73152" cy="40233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66344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c · Conclusion &amp; recommendations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SahkahIni? closes a real gap: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BM-native, in-chat, instant verification.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Recommendations for delivery: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Pilot with one UM faculty group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Partner with Sebenarnya.my for data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Add deepfake (image/video) detection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Run media-literacy workshops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Track 'hoaxes stopped' as impact 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0749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73152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93392"/>
            <a:ext cx="46177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E293B"/>
                </a:solidFill>
                <a:latin typeface="Segoe UI Semibold"/>
              </a:rPr>
              <a:t>d · Documentation (group meetings)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Meeting log kept in e-portfolio: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M1 (Wk1): scope + roles assigned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M2 (Wk4): tech review + gap table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M3 (Wk7): storyboard finalised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M4 (Wk10): test results reviewed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• M5 (Wk13): report + slides sign-off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Each entry: date · attendees · decisions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Segoe UI Semibold"/>
              </a:rPr>
              <a:t>Terima kasih.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2DD4BF"/>
                </a:solidFill>
                <a:latin typeface="Segoe UI"/>
              </a:rPr>
              <a:t>SahkahIni? — verifying the truth, one forward at a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8D3E6"/>
                </a:solidFill>
                <a:latin typeface="Segoe UI"/>
              </a:rPr>
              <a:t>Aisyatun Nabiha  ·  Ahli Kumpulan 2  ·  Ahli Kumpulan 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GFP 009 Digital Creativity  ·  Universiti Malaya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